
<file path=[Content_Types].xml><?xml version="1.0" encoding="utf-8"?>
<Types xmlns="http://schemas.openxmlformats.org/package/2006/content-types">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70" r:id="rId4"/>
    <p:sldId id="258" r:id="rId5"/>
    <p:sldId id="259" r:id="rId6"/>
    <p:sldId id="260" r:id="rId7"/>
    <p:sldId id="261" r:id="rId8"/>
    <p:sldId id="262" r:id="rId9"/>
    <p:sldId id="263" r:id="rId10"/>
    <p:sldId id="264" r:id="rId11"/>
    <p:sldId id="265" r:id="rId12"/>
    <p:sldId id="266" r:id="rId13"/>
    <p:sldId id="267"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7" d="100"/>
          <a:sy n="67" d="100"/>
        </p:scale>
        <p:origin x="62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96190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[Purpose]
Introduce the project and set expectations for a short, clear, and visual presentation.
[Speaker Notes]
Today I present my final Data Analyst project built around an interactive application called “Data Analyst Suite”.
The goal is to analyze port-traffic indicators using PCA, clustering and correspondence analysis, and then apply anomaly detection concepts to a cybersecurity-style module.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 will first describe the objectives and the global methodology, then show the key results for each module (ACP/PCA, AI, AFC, Cyber).
I will end with concrete takeaways and answer: how this training and project benefited me and how it helped afterwards.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report and datasets (DOCX + Excel).
[/Sources]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The application is organized into 4 modules: PCA, AI, AFC and Cyber.
All graphs are interactive with zoom/pan (Matplotlib toolbar), and tables can be exported to Excel.
This helps reproduce and present results quickly.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matrix summarizes relationships between the port-traffic variables.
It is useful to detect redundancy and to justify dimensionality reduction using PCA.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PCA decomposes the variance into orthogonal components.
The bars show explained variance per component and the line shows cumulative variance.
This helps justify focusing on the first two components for a 2D map and for clustering.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Each point is one ship/observation projected onto PC1 and PC2.
Distances on this map approximate similarity: close points mean similar profiles.
This projection is the base used in the clustering module.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This circle shows how variables relate to the first two components.
It makes PCA interpretable: we can label axes and understand the drivers of separation.
I will reuse this interpretation when describing clusters.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Using the PCA coordinates (PC1/PC2), KMeans groups observations into 4 clusters.
This provides an interpretable segmentation of ship profiles.
In practice, such clusters can be linked to operational strategies: berth planning, fuel/CO2 monitoring, etc.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In this project, AFC is used as a complementary exploratory technique.
It provides a joint representation to interpret potential dependence structures.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Isolation Forest isolates observations by random splits; anomalies are isolated faster.
Here, the contamination parameter is 10%, so roughly 10 observations are flagged.
In cybersecurity, this is similar to flagging unusual sessions or traffic that should be investigated.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LOF flags observations whose neighborhood density is lower than surrounding points.
It complements Isolation Forest: if both agree, it is a strong signal.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I summarize the value of each method and translate it into actions.
The main idea: reduce complexity, segment profiles, and monitor risks.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[Speaker Notes — French (you can read this in your recording)]
La formation Data Analyst m’a apporté une méthode complète de travail : partir d’un problème, préparer les données, choisir des techniques adaptées, puis valider et interpréter les résultats.
Dans ce projet, j’ai appliqué l’ACP pour réduire la dimension et interpréter PC1/PC2, le clustering KMeans pour segmenter les profils, l’AFC pour compléter l’analyse, et enfin des méthodes de détection d’anomalies (Isolation Forest, LOF) pour une logique “cyber”.
Le fait de développer une application m’a aussi appris à rendre l’analyse réutilisable : import, graphiques interactifs, export des tableaux — ce qui améliore la qualité de présentation.
Après ce travail, je suis plus autonome : je sais structurer une analyse de bout en bout, expliquer les résultats avec des indicateurs concrets, et proposer des recommandations utiles.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5"/>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Shape 3"/>
          <p:cNvSpPr/>
          <p:nvPr/>
        </p:nvSpPr>
        <p:spPr>
          <a:xfrm>
            <a:off x="0" y="685800"/>
            <a:ext cx="12191695" cy="6172200"/>
          </a:xfrm>
          <a:prstGeom prst="rect">
            <a:avLst/>
          </a:prstGeom>
          <a:solidFill>
            <a:srgbClr val="F5F7FB"/>
          </a:solidFill>
          <a:ln w="12700">
            <a:solidFill>
              <a:srgbClr val="F5F7FB"/>
            </a:solidFill>
            <a:prstDash val="solid"/>
          </a:ln>
        </p:spPr>
      </p:sp>
      <p:sp>
        <p:nvSpPr>
          <p:cNvPr id="7" name="Text 4"/>
          <p:cNvSpPr/>
          <p:nvPr/>
        </p:nvSpPr>
        <p:spPr>
          <a:xfrm>
            <a:off x="502920" y="1097280"/>
            <a:ext cx="11185855" cy="640080"/>
          </a:xfrm>
          <a:prstGeom prst="rect">
            <a:avLst/>
          </a:prstGeom>
          <a:noFill/>
          <a:ln/>
        </p:spPr>
        <p:txBody>
          <a:bodyPr wrap="square" rtlCol="0" anchor="ctr"/>
          <a:lstStyle/>
          <a:p>
            <a:pPr marL="0" indent="0">
              <a:buNone/>
            </a:pPr>
            <a:r>
              <a:rPr lang="en-US" sz="4000" b="1" dirty="0">
                <a:solidFill>
                  <a:srgbClr val="0F172A"/>
                </a:solidFill>
                <a:latin typeface="Calibri" pitchFamily="34" charset="0"/>
                <a:ea typeface="Calibri" pitchFamily="34" charset="-122"/>
                <a:cs typeface="Calibri" pitchFamily="34" charset="-120"/>
              </a:rPr>
              <a:t>Port Traffic Analytics</a:t>
            </a:r>
            <a:endParaRPr lang="en-US" sz="4000" dirty="0"/>
          </a:p>
        </p:txBody>
      </p:sp>
      <p:sp>
        <p:nvSpPr>
          <p:cNvPr id="8" name="Text 5"/>
          <p:cNvSpPr/>
          <p:nvPr/>
        </p:nvSpPr>
        <p:spPr>
          <a:xfrm>
            <a:off x="502920" y="1828800"/>
            <a:ext cx="11185855" cy="365760"/>
          </a:xfrm>
          <a:prstGeom prst="rect">
            <a:avLst/>
          </a:prstGeom>
          <a:noFill/>
          <a:ln/>
        </p:spPr>
        <p:txBody>
          <a:bodyPr wrap="square" rtlCol="0" anchor="ctr"/>
          <a:lstStyle/>
          <a:p>
            <a:pPr marL="0" indent="0">
              <a:buNone/>
            </a:pPr>
            <a:r>
              <a:rPr lang="en-US" sz="1600" dirty="0">
                <a:solidFill>
                  <a:srgbClr val="64748B"/>
                </a:solidFill>
                <a:latin typeface="Calibri" pitchFamily="34" charset="0"/>
                <a:ea typeface="Calibri" pitchFamily="34" charset="-122"/>
                <a:cs typeface="Calibri" pitchFamily="34" charset="-120"/>
              </a:rPr>
              <a:t>PCA • KMeans Clustering • Correspondence Analysis • Anomaly Detection</a:t>
            </a:r>
            <a:endParaRPr lang="en-US" sz="1600" dirty="0"/>
          </a:p>
        </p:txBody>
      </p:sp>
      <p:sp>
        <p:nvSpPr>
          <p:cNvPr id="9" name="Shape 6"/>
          <p:cNvSpPr/>
          <p:nvPr/>
        </p:nvSpPr>
        <p:spPr>
          <a:xfrm>
            <a:off x="502920" y="2514600"/>
            <a:ext cx="11185855" cy="123444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0" name="Text 7"/>
          <p:cNvSpPr/>
          <p:nvPr/>
        </p:nvSpPr>
        <p:spPr>
          <a:xfrm>
            <a:off x="777240" y="2697480"/>
            <a:ext cx="10637215" cy="41148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Sara Naim — Data Analyst (EMSI) • Academic year 2025/2026</a:t>
            </a:r>
            <a:endParaRPr lang="en-US" sz="1600" dirty="0"/>
          </a:p>
        </p:txBody>
      </p:sp>
      <p:sp>
        <p:nvSpPr>
          <p:cNvPr id="11" name="Text 8"/>
          <p:cNvSpPr/>
          <p:nvPr/>
        </p:nvSpPr>
        <p:spPr>
          <a:xfrm>
            <a:off x="777240" y="3063240"/>
            <a:ext cx="10637215"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Supervisor: Dr. EL MKHALET MOUNA</a:t>
            </a:r>
            <a:endParaRPr lang="en-US" sz="1400" dirty="0"/>
          </a:p>
        </p:txBody>
      </p:sp>
      <p:sp>
        <p:nvSpPr>
          <p:cNvPr id="12" name="Text 9"/>
          <p:cNvSpPr/>
          <p:nvPr/>
        </p:nvSpPr>
        <p:spPr>
          <a:xfrm>
            <a:off x="777240" y="3383280"/>
            <a:ext cx="10637215" cy="32004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Tool: “Data Analyst Suite” (Tkinter + Matplotlib + scikit-learn)</a:t>
            </a:r>
            <a:endParaRPr lang="en-US" sz="1400" dirty="0"/>
          </a:p>
        </p:txBody>
      </p:sp>
      <p:pic>
        <p:nvPicPr>
          <p:cNvPr id="16" name="Audio 15">
            <a:hlinkClick r:id="" action="ppaction://media"/>
            <a:extLst>
              <a:ext uri="{FF2B5EF4-FFF2-40B4-BE49-F238E27FC236}">
                <a16:creationId xmlns:a16="http://schemas.microsoft.com/office/drawing/2014/main" id="{CC374601-1BAB-473F-8E15-9386B88D17A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633200" y="62992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078"/>
    </mc:Choice>
    <mc:Fallback xmlns="">
      <p:transition spd="slow" advTm="30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6"/>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5"/>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Agenda</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Text 5"/>
          <p:cNvSpPr/>
          <p:nvPr/>
        </p:nvSpPr>
        <p:spPr>
          <a:xfrm>
            <a:off x="822960" y="2011680"/>
            <a:ext cx="10545775" cy="4297680"/>
          </a:xfrm>
          <a:prstGeom prst="rect">
            <a:avLst/>
          </a:prstGeom>
          <a:noFill/>
          <a:ln/>
        </p:spPr>
        <p:txBody>
          <a:bodyPr wrap="square" rtlCol="0" anchor="t"/>
          <a:lstStyle/>
          <a:p>
            <a:pPr marL="228600" indent="-228600">
              <a:spcAft>
                <a:spcPts val="600"/>
              </a:spcAft>
              <a:buSzPct val="100000"/>
              <a:buChar char="•"/>
            </a:pPr>
            <a:r>
              <a:rPr lang="en-US" sz="1800" dirty="0">
                <a:solidFill>
                  <a:srgbClr val="0F172A"/>
                </a:solidFill>
                <a:latin typeface="Calibri" pitchFamily="34" charset="0"/>
                <a:ea typeface="Calibri" pitchFamily="34" charset="-122"/>
                <a:cs typeface="Calibri" pitchFamily="34" charset="-120"/>
              </a:rPr>
              <a:t>Context &amp; objectives (why analyze port traffic)</a:t>
            </a:r>
            <a:endParaRPr lang="en-US" sz="1800" dirty="0"/>
          </a:p>
          <a:p>
            <a:pPr marL="228600" indent="-228600">
              <a:spcAft>
                <a:spcPts val="600"/>
              </a:spcAft>
              <a:buSzPct val="100000"/>
              <a:buChar char="•"/>
            </a:pPr>
            <a:r>
              <a:rPr lang="en-US" sz="1800" dirty="0">
                <a:solidFill>
                  <a:srgbClr val="0F172A"/>
                </a:solidFill>
                <a:latin typeface="Calibri" pitchFamily="34" charset="0"/>
                <a:ea typeface="Calibri" pitchFamily="34" charset="-122"/>
                <a:cs typeface="Calibri" pitchFamily="34" charset="-120"/>
              </a:rPr>
              <a:t>Method pipeline: preprocessing → PCA → AI clustering (k=4) → AFC → anomaly detection</a:t>
            </a:r>
            <a:endParaRPr lang="en-US" sz="1800" dirty="0"/>
          </a:p>
          <a:p>
            <a:pPr marL="228600" indent="-228600">
              <a:spcAft>
                <a:spcPts val="600"/>
              </a:spcAft>
              <a:buSzPct val="100000"/>
              <a:buChar char="•"/>
            </a:pPr>
            <a:r>
              <a:rPr lang="en-US" sz="1800" dirty="0">
                <a:solidFill>
                  <a:srgbClr val="0F172A"/>
                </a:solidFill>
                <a:latin typeface="Calibri" pitchFamily="34" charset="0"/>
                <a:ea typeface="Calibri" pitchFamily="34" charset="-122"/>
                <a:cs typeface="Calibri" pitchFamily="34" charset="-120"/>
              </a:rPr>
              <a:t>Key visuals: correlation heatmap, explained variance, factor maps, correlation circle</a:t>
            </a:r>
            <a:endParaRPr lang="en-US" sz="1800" dirty="0"/>
          </a:p>
          <a:p>
            <a:pPr marL="228600" indent="-228600">
              <a:spcAft>
                <a:spcPts val="600"/>
              </a:spcAft>
              <a:buSzPct val="100000"/>
              <a:buChar char="•"/>
            </a:pPr>
            <a:r>
              <a:rPr lang="en-US" sz="1800" dirty="0">
                <a:solidFill>
                  <a:srgbClr val="0F172A"/>
                </a:solidFill>
                <a:latin typeface="Calibri" pitchFamily="34" charset="0"/>
                <a:ea typeface="Calibri" pitchFamily="34" charset="-122"/>
                <a:cs typeface="Calibri" pitchFamily="34" charset="-120"/>
              </a:rPr>
              <a:t>Results summary + practical interpretation</a:t>
            </a:r>
            <a:endParaRPr lang="en-US" sz="1800" dirty="0"/>
          </a:p>
          <a:p>
            <a:pPr marL="228600" indent="-228600">
              <a:spcAft>
                <a:spcPts val="600"/>
              </a:spcAft>
              <a:buSzPct val="100000"/>
              <a:buChar char="•"/>
            </a:pPr>
            <a:r>
              <a:rPr lang="en-US" sz="1800" dirty="0">
                <a:solidFill>
                  <a:srgbClr val="0F172A"/>
                </a:solidFill>
                <a:latin typeface="Calibri" pitchFamily="34" charset="0"/>
                <a:ea typeface="Calibri" pitchFamily="34" charset="-122"/>
                <a:cs typeface="Calibri" pitchFamily="34" charset="-120"/>
              </a:rPr>
              <a:t>How this training/project helped me afterwards (skills &amp; impact)</a:t>
            </a:r>
            <a:endParaRPr lang="en-US" sz="1800" dirty="0"/>
          </a:p>
        </p:txBody>
      </p:sp>
      <p:pic>
        <p:nvPicPr>
          <p:cNvPr id="9" name="Audio 8">
            <a:hlinkClick r:id="" action="ppaction://media"/>
            <a:extLst>
              <a:ext uri="{FF2B5EF4-FFF2-40B4-BE49-F238E27FC236}">
                <a16:creationId xmlns:a16="http://schemas.microsoft.com/office/drawing/2014/main" id="{7D0FCFDB-D160-45C8-B68A-A3E85C1544FE}"/>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633200" y="6299200"/>
            <a:ext cx="406400" cy="4064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3268"/>
    </mc:Choice>
    <mc:Fallback xmlns="">
      <p:transition spd="slow" advTm="326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566928"/>
          </a:xfrm>
          <a:prstGeom prst="rect">
            <a:avLst/>
          </a:prstGeom>
          <a:solidFill>
            <a:srgbClr val="0B1220"/>
          </a:solidFill>
          <a:ln w="12700">
            <a:solidFill>
              <a:srgbClr val="0B1220"/>
            </a:solidFill>
            <a:prstDash val="solid"/>
          </a:ln>
        </p:spPr>
      </p:sp>
      <p:sp>
        <p:nvSpPr>
          <p:cNvPr id="3" name="Shape 1"/>
          <p:cNvSpPr/>
          <p:nvPr/>
        </p:nvSpPr>
        <p:spPr>
          <a:xfrm>
            <a:off x="0" y="530352"/>
            <a:ext cx="12191695" cy="36576"/>
          </a:xfrm>
          <a:prstGeom prst="rect">
            <a:avLst/>
          </a:prstGeom>
          <a:solidFill>
            <a:srgbClr val="14B8A6"/>
          </a:solidFill>
          <a:ln w="12700">
            <a:solidFill>
              <a:srgbClr val="14B8A6"/>
            </a:solidFill>
            <a:prstDash val="solid"/>
          </a:ln>
        </p:spPr>
      </p:sp>
      <p:sp>
        <p:nvSpPr>
          <p:cNvPr id="4" name="Text 2"/>
          <p:cNvSpPr/>
          <p:nvPr/>
        </p:nvSpPr>
        <p:spPr>
          <a:xfrm>
            <a:off x="457200" y="137160"/>
            <a:ext cx="548640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Analyst Suite — Report</a:t>
            </a:r>
            <a:endParaRPr lang="en-US" sz="1400" dirty="0"/>
          </a:p>
        </p:txBody>
      </p:sp>
      <p:sp>
        <p:nvSpPr>
          <p:cNvPr id="5" name="Text 3"/>
          <p:cNvSpPr/>
          <p:nvPr/>
        </p:nvSpPr>
        <p:spPr>
          <a:xfrm>
            <a:off x="6035040" y="137160"/>
            <a:ext cx="5669280" cy="274320"/>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Context &amp; Objectives</a:t>
            </a:r>
            <a:endParaRPr lang="en-US" sz="1400" dirty="0"/>
          </a:p>
        </p:txBody>
      </p:sp>
      <p:sp>
        <p:nvSpPr>
          <p:cNvPr id="6" name="Text 4"/>
          <p:cNvSpPr/>
          <p:nvPr/>
        </p:nvSpPr>
        <p:spPr>
          <a:xfrm>
            <a:off x="914400" y="1143000"/>
            <a:ext cx="5120640" cy="365760"/>
          </a:xfrm>
          <a:prstGeom prst="rect">
            <a:avLst/>
          </a:prstGeom>
          <a:noFill/>
          <a:ln/>
        </p:spPr>
        <p:txBody>
          <a:bodyPr wrap="square" rtlCol="0" anchor="ctr"/>
          <a:lstStyle/>
          <a:p>
            <a:pPr marL="0" indent="0">
              <a:buNone/>
            </a:pPr>
            <a:r>
              <a:rPr lang="en-US" sz="1600" b="1" dirty="0">
                <a:solidFill>
                  <a:srgbClr val="0B1220"/>
                </a:solidFill>
                <a:latin typeface="Calibri" pitchFamily="34" charset="0"/>
                <a:ea typeface="Calibri" pitchFamily="34" charset="-122"/>
                <a:cs typeface="Calibri" pitchFamily="34" charset="-120"/>
              </a:rPr>
              <a:t>Context (Morocco)</a:t>
            </a:r>
            <a:endParaRPr lang="en-US" sz="1600" dirty="0"/>
          </a:p>
        </p:txBody>
      </p:sp>
      <p:sp>
        <p:nvSpPr>
          <p:cNvPr id="7" name="Text 5"/>
          <p:cNvSpPr/>
          <p:nvPr/>
        </p:nvSpPr>
        <p:spPr>
          <a:xfrm>
            <a:off x="914400" y="1645920"/>
            <a:ext cx="5120640" cy="941070"/>
          </a:xfrm>
          <a:prstGeom prst="rect">
            <a:avLst/>
          </a:prstGeom>
          <a:noFill/>
          <a:ln/>
        </p:spPr>
        <p:txBody>
          <a:bodyPr wrap="square" rtlCol="0" anchor="t"/>
          <a:lstStyle/>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Maritime ports are strategic nodes for Moroccan trade and logistics.</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Operational KPIs (time at berth, maneuvers, fuel use, emissions) impact cost and service quality.</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Data-driven segmentation helps identify typical vessel profiles and operational risks.</a:t>
            </a:r>
            <a:endParaRPr lang="en-US" sz="1400" dirty="0"/>
          </a:p>
        </p:txBody>
      </p:sp>
      <p:sp>
        <p:nvSpPr>
          <p:cNvPr id="8" name="Text 6"/>
          <p:cNvSpPr/>
          <p:nvPr/>
        </p:nvSpPr>
        <p:spPr>
          <a:xfrm>
            <a:off x="6766560" y="1143000"/>
            <a:ext cx="4572000" cy="365760"/>
          </a:xfrm>
          <a:prstGeom prst="rect">
            <a:avLst/>
          </a:prstGeom>
          <a:noFill/>
          <a:ln/>
        </p:spPr>
        <p:txBody>
          <a:bodyPr wrap="square" rtlCol="0" anchor="ctr"/>
          <a:lstStyle/>
          <a:p>
            <a:pPr marL="0" indent="0">
              <a:buNone/>
            </a:pPr>
            <a:r>
              <a:rPr lang="en-US" sz="1600" b="1" dirty="0">
                <a:solidFill>
                  <a:srgbClr val="0B1220"/>
                </a:solidFill>
                <a:latin typeface="Calibri" pitchFamily="34" charset="0"/>
                <a:ea typeface="Calibri" pitchFamily="34" charset="-122"/>
                <a:cs typeface="Calibri" pitchFamily="34" charset="-120"/>
              </a:rPr>
              <a:t>Objectives</a:t>
            </a:r>
            <a:endParaRPr lang="en-US" sz="1600" dirty="0"/>
          </a:p>
        </p:txBody>
      </p:sp>
      <p:sp>
        <p:nvSpPr>
          <p:cNvPr id="9" name="Text 7"/>
          <p:cNvSpPr/>
          <p:nvPr/>
        </p:nvSpPr>
        <p:spPr>
          <a:xfrm>
            <a:off x="6766560" y="1645920"/>
            <a:ext cx="4572000" cy="1385570"/>
          </a:xfrm>
          <a:prstGeom prst="rect">
            <a:avLst/>
          </a:prstGeom>
          <a:noFill/>
          <a:ln/>
        </p:spPr>
        <p:txBody>
          <a:bodyPr wrap="square" rtlCol="0" anchor="t"/>
          <a:lstStyle/>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Explore correlations between operational variables (ACP).</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Reduce dimensionality to interpret PC1/PC2 structure.</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Cluster ships into 4 coherent groups (KMeans) and profile each group.</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Illustrate a correspondence analysis view (AFC).</a:t>
            </a:r>
            <a:endParaRPr lang="en-US" sz="1400" dirty="0"/>
          </a:p>
          <a:p>
            <a:pPr marL="177800" indent="-177800">
              <a:spcAft>
                <a:spcPts val="600"/>
              </a:spcAft>
              <a:buSzPct val="100000"/>
              <a:buChar char="•"/>
            </a:pPr>
            <a:r>
              <a:rPr lang="en-US" sz="1400" dirty="0">
                <a:solidFill>
                  <a:srgbClr val="0B1220"/>
                </a:solidFill>
                <a:latin typeface="Calibri" pitchFamily="34" charset="0"/>
                <a:ea typeface="Calibri" pitchFamily="34" charset="-122"/>
                <a:cs typeface="Calibri" pitchFamily="34" charset="-120"/>
              </a:rPr>
              <a:t>Detect unusual server/traffic patterns using anomaly detection (Cyber).</a:t>
            </a:r>
            <a:endParaRPr lang="en-US" sz="1400" dirty="0"/>
          </a:p>
        </p:txBody>
      </p:sp>
      <p:sp>
        <p:nvSpPr>
          <p:cNvPr id="11" name="Text 8"/>
          <p:cNvSpPr/>
          <p:nvPr/>
        </p:nvSpPr>
        <p:spPr>
          <a:xfrm>
            <a:off x="11750040" y="6601968"/>
            <a:ext cx="411480" cy="228600"/>
          </a:xfrm>
          <a:prstGeom prst="rect">
            <a:avLst/>
          </a:prstGeom>
          <a:noFill/>
          <a:ln/>
        </p:spPr>
        <p:txBody>
          <a:bodyPr wrap="square"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Interactive Application (Data Analyst Suite)</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5486400" cy="448056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4ea4024b-a391-4525-b1d6-398a13eb2c14.png"/>
          <p:cNvPicPr>
            <a:picLocks noChangeAspect="1"/>
          </p:cNvPicPr>
          <p:nvPr/>
        </p:nvPicPr>
        <p:blipFill>
          <a:blip r:embed="rId4"/>
          <a:stretch>
            <a:fillRect/>
          </a:stretch>
        </p:blipFill>
        <p:spPr>
          <a:xfrm>
            <a:off x="640080" y="2720950"/>
            <a:ext cx="5212080" cy="2513381"/>
          </a:xfrm>
          <a:prstGeom prst="rect">
            <a:avLst/>
          </a:prstGeom>
        </p:spPr>
      </p:pic>
      <p:sp>
        <p:nvSpPr>
          <p:cNvPr id="10" name="Text 6"/>
          <p:cNvSpPr/>
          <p:nvPr/>
        </p:nvSpPr>
        <p:spPr>
          <a:xfrm>
            <a:off x="502920" y="6263640"/>
            <a:ext cx="5486400" cy="27432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Start screen</a:t>
            </a:r>
            <a:endParaRPr lang="en-US" sz="1200" dirty="0"/>
          </a:p>
        </p:txBody>
      </p:sp>
      <p:sp>
        <p:nvSpPr>
          <p:cNvPr id="11" name="Shape 7"/>
          <p:cNvSpPr/>
          <p:nvPr/>
        </p:nvSpPr>
        <p:spPr>
          <a:xfrm>
            <a:off x="6355080" y="1737360"/>
            <a:ext cx="5333695" cy="448056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12" name="Image 2" descr="/mnt/data/a6404f54-a29b-4a61-bd2b-dbd5ce4476a1.png"/>
          <p:cNvPicPr>
            <a:picLocks noChangeAspect="1"/>
          </p:cNvPicPr>
          <p:nvPr/>
        </p:nvPicPr>
        <p:blipFill>
          <a:blip r:embed="rId5"/>
          <a:stretch>
            <a:fillRect/>
          </a:stretch>
        </p:blipFill>
        <p:spPr>
          <a:xfrm>
            <a:off x="6492240" y="2704364"/>
            <a:ext cx="5059375" cy="2546552"/>
          </a:xfrm>
          <a:prstGeom prst="rect">
            <a:avLst/>
          </a:prstGeom>
        </p:spPr>
      </p:pic>
      <p:sp>
        <p:nvSpPr>
          <p:cNvPr id="13" name="Text 8"/>
          <p:cNvSpPr/>
          <p:nvPr/>
        </p:nvSpPr>
        <p:spPr>
          <a:xfrm>
            <a:off x="6355080" y="6263640"/>
            <a:ext cx="5333695" cy="274320"/>
          </a:xfrm>
          <a:prstGeom prst="rect">
            <a:avLst/>
          </a:prstGeom>
          <a:noFill/>
          <a:ln/>
        </p:spPr>
        <p:txBody>
          <a:bodyPr wrap="square" rtlCol="0" anchor="ctr"/>
          <a:lstStyle/>
          <a:p>
            <a:pPr marL="0" indent="0" algn="ctr">
              <a:buNone/>
            </a:pPr>
            <a:r>
              <a:rPr lang="en-US" sz="1200" dirty="0">
                <a:solidFill>
                  <a:srgbClr val="64748B"/>
                </a:solidFill>
                <a:latin typeface="Calibri" pitchFamily="34" charset="0"/>
                <a:ea typeface="Calibri" pitchFamily="34" charset="-122"/>
                <a:cs typeface="Calibri" pitchFamily="34" charset="-120"/>
              </a:rPr>
              <a:t>Module menu</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PCA — Correlation Heatmap</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11185855" cy="420624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873f6e7a-d146-4130-962d-95ba45ee30d2.png"/>
          <p:cNvPicPr>
            <a:picLocks noChangeAspect="1"/>
          </p:cNvPicPr>
          <p:nvPr/>
        </p:nvPicPr>
        <p:blipFill>
          <a:blip r:embed="rId4"/>
          <a:stretch>
            <a:fillRect/>
          </a:stretch>
        </p:blipFill>
        <p:spPr>
          <a:xfrm>
            <a:off x="640080" y="2206781"/>
            <a:ext cx="10911535" cy="3267399"/>
          </a:xfrm>
          <a:prstGeom prst="rect">
            <a:avLst/>
          </a:prstGeom>
        </p:spPr>
      </p:pic>
      <p:sp>
        <p:nvSpPr>
          <p:cNvPr id="10" name="Shape 6"/>
          <p:cNvSpPr/>
          <p:nvPr/>
        </p:nvSpPr>
        <p:spPr>
          <a:xfrm>
            <a:off x="502919" y="6092981"/>
            <a:ext cx="11185855" cy="640080"/>
          </a:xfrm>
          <a:prstGeom prst="roundRect">
            <a:avLst>
              <a:gd name="adj" fmla="val 50000"/>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txBody>
          <a:bodyPr/>
          <a:lstStyle/>
          <a:p>
            <a:endParaRPr lang="fr-FR" dirty="0"/>
          </a:p>
        </p:txBody>
      </p:sp>
      <p:sp>
        <p:nvSpPr>
          <p:cNvPr id="11" name="Text 7"/>
          <p:cNvSpPr/>
          <p:nvPr/>
        </p:nvSpPr>
        <p:spPr>
          <a:xfrm>
            <a:off x="731520" y="6199632"/>
            <a:ext cx="10728655"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PCA — Explained Variance</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6446520"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user-ebV74P7ykEVcKEcjJKsUQJBO__d4a5b541-8085-4e1d-87c0-3d349e02ca70/d0ba46ef126f475fb4dc1a101463b375/mnt/data/ppt_images/img_9816c86edf.png"/>
          <p:cNvPicPr>
            <a:picLocks noChangeAspect="1"/>
          </p:cNvPicPr>
          <p:nvPr/>
        </p:nvPicPr>
        <p:blipFill>
          <a:blip r:embed="rId4"/>
          <a:stretch>
            <a:fillRect/>
          </a:stretch>
        </p:blipFill>
        <p:spPr>
          <a:xfrm>
            <a:off x="640080" y="2766060"/>
            <a:ext cx="6172200" cy="2743200"/>
          </a:xfrm>
          <a:prstGeom prst="rect">
            <a:avLst/>
          </a:prstGeom>
        </p:spPr>
      </p:pic>
      <p:sp>
        <p:nvSpPr>
          <p:cNvPr id="10" name="Shape 6"/>
          <p:cNvSpPr/>
          <p:nvPr/>
        </p:nvSpPr>
        <p:spPr>
          <a:xfrm>
            <a:off x="7086600" y="1737360"/>
            <a:ext cx="460217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1" name="Text 7"/>
          <p:cNvSpPr/>
          <p:nvPr/>
        </p:nvSpPr>
        <p:spPr>
          <a:xfrm>
            <a:off x="7269480" y="1965960"/>
            <a:ext cx="4236415" cy="36576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Key points</a:t>
            </a:r>
            <a:endParaRPr lang="en-US" sz="1600" dirty="0"/>
          </a:p>
        </p:txBody>
      </p:sp>
      <p:sp>
        <p:nvSpPr>
          <p:cNvPr id="12" name="Text 8"/>
          <p:cNvSpPr/>
          <p:nvPr/>
        </p:nvSpPr>
        <p:spPr>
          <a:xfrm>
            <a:off x="7269480" y="2377440"/>
            <a:ext cx="4236415" cy="3108960"/>
          </a:xfrm>
          <a:prstGeom prst="rect">
            <a:avLst/>
          </a:prstGeom>
          <a:noFill/>
          <a:ln/>
        </p:spPr>
        <p:txBody>
          <a:bodyPr wrap="square" rtlCol="0" anchor="t"/>
          <a:lstStyle/>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PC1 and PC2 summarize the main structure of the data.</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The cumulative curve guides how many components are needed.</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Interpretation: PC1 ≈ operational/scale effect; PC2 ≈ operational tempo.</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We focus on PC1/PC2 for visualization and clustering.</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PCA — Individuals Factor Map (PC1/PC2)</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11185855" cy="416052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ae4cfe9f-12a9-4e67-9938-a7bad84f82c4.png"/>
          <p:cNvPicPr>
            <a:picLocks noChangeAspect="1"/>
          </p:cNvPicPr>
          <p:nvPr/>
        </p:nvPicPr>
        <p:blipFill>
          <a:blip r:embed="rId4"/>
          <a:stretch>
            <a:fillRect/>
          </a:stretch>
        </p:blipFill>
        <p:spPr>
          <a:xfrm>
            <a:off x="2452535" y="1874520"/>
            <a:ext cx="7286625" cy="3886200"/>
          </a:xfrm>
          <a:prstGeom prst="rect">
            <a:avLst/>
          </a:prstGeom>
        </p:spPr>
      </p:pic>
      <p:sp>
        <p:nvSpPr>
          <p:cNvPr id="10" name="Shape 6"/>
          <p:cNvSpPr/>
          <p:nvPr/>
        </p:nvSpPr>
        <p:spPr>
          <a:xfrm>
            <a:off x="502920" y="5989320"/>
            <a:ext cx="11185855" cy="6858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txBody>
          <a:bodyPr/>
          <a:lstStyle/>
          <a:p>
            <a:endParaRPr lang="fr-FR" dirty="0"/>
          </a:p>
        </p:txBody>
      </p:sp>
      <p:sp>
        <p:nvSpPr>
          <p:cNvPr id="11" name="Text 7"/>
          <p:cNvSpPr/>
          <p:nvPr/>
        </p:nvSpPr>
        <p:spPr>
          <a:xfrm>
            <a:off x="731520" y="6108192"/>
            <a:ext cx="10728655" cy="365760"/>
          </a:xfrm>
          <a:prstGeom prst="rect">
            <a:avLst/>
          </a:prstGeom>
          <a:noFill/>
          <a:ln/>
        </p:spPr>
        <p:txBody>
          <a:bodyPr wrap="square" rtlCol="0" anchor="ctr"/>
          <a:lstStyle/>
          <a:p>
            <a:pPr marL="0" indent="0">
              <a:buNone/>
            </a:pP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PCA — Correlation Circle (Variables)</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6583680"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pca_correlation_circle.png"/>
          <p:cNvPicPr>
            <a:picLocks noChangeAspect="1"/>
          </p:cNvPicPr>
          <p:nvPr/>
        </p:nvPicPr>
        <p:blipFill>
          <a:blip r:embed="rId4"/>
          <a:stretch>
            <a:fillRect/>
          </a:stretch>
        </p:blipFill>
        <p:spPr>
          <a:xfrm>
            <a:off x="640080" y="1929384"/>
            <a:ext cx="6309360" cy="4416552"/>
          </a:xfrm>
          <a:prstGeom prst="rect">
            <a:avLst/>
          </a:prstGeom>
        </p:spPr>
      </p:pic>
      <p:sp>
        <p:nvSpPr>
          <p:cNvPr id="10" name="Shape 6"/>
          <p:cNvSpPr/>
          <p:nvPr/>
        </p:nvSpPr>
        <p:spPr>
          <a:xfrm>
            <a:off x="7178040" y="1737360"/>
            <a:ext cx="451073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1" name="Text 7"/>
          <p:cNvSpPr/>
          <p:nvPr/>
        </p:nvSpPr>
        <p:spPr>
          <a:xfrm>
            <a:off x="7360920" y="1965960"/>
            <a:ext cx="4144975" cy="36576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How to read</a:t>
            </a:r>
            <a:endParaRPr lang="en-US" sz="1600" dirty="0"/>
          </a:p>
        </p:txBody>
      </p:sp>
      <p:sp>
        <p:nvSpPr>
          <p:cNvPr id="12" name="Text 8"/>
          <p:cNvSpPr/>
          <p:nvPr/>
        </p:nvSpPr>
        <p:spPr>
          <a:xfrm>
            <a:off x="7360920" y="2377440"/>
            <a:ext cx="4144975" cy="2926080"/>
          </a:xfrm>
          <a:prstGeom prst="rect">
            <a:avLst/>
          </a:prstGeom>
          <a:noFill/>
          <a:ln/>
        </p:spPr>
        <p:txBody>
          <a:bodyPr wrap="square" rtlCol="0" anchor="t"/>
          <a:lstStyle/>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Arrow length → quality of representation on PC1/PC2.</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Same direction → positive correlation.</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Opposite direction → negative correlation.</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Near 90° → weak or no linear relation.</a:t>
            </a:r>
            <a:endParaRPr lang="en-US" sz="1400" dirty="0"/>
          </a:p>
        </p:txBody>
      </p:sp>
      <p:sp>
        <p:nvSpPr>
          <p:cNvPr id="13" name="Text 9"/>
          <p:cNvSpPr/>
          <p:nvPr/>
        </p:nvSpPr>
        <p:spPr>
          <a:xfrm>
            <a:off x="7360920" y="5349240"/>
            <a:ext cx="4144975" cy="1143000"/>
          </a:xfrm>
          <a:prstGeom prst="rect">
            <a:avLst/>
          </a:prstGeom>
          <a:solidFill>
            <a:srgbClr val="ECFDF5"/>
          </a:solidFill>
          <a:ln>
            <a:solidFill>
              <a:srgbClr val="BBF7D0"/>
            </a:solidFill>
          </a:ln>
        </p:spPr>
        <p:txBody>
          <a:bodyPr wrap="square" lIns="127000" tIns="152400" rIns="152400" bIns="127000"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PC1 / PC2 meaning (example)</a:t>
            </a:r>
            <a:endParaRPr lang="en-US" sz="1200" dirty="0"/>
          </a:p>
          <a:p>
            <a:pPr marL="0" indent="0">
              <a:buNone/>
            </a:pPr>
            <a:endParaRPr lang="en-US" sz="1200" dirty="0"/>
          </a:p>
          <a:p>
            <a:pPr marL="0" indent="0">
              <a:buNone/>
            </a:pPr>
            <a:r>
              <a:rPr lang="en-US" sz="1200" dirty="0">
                <a:solidFill>
                  <a:srgbClr val="0F172A"/>
                </a:solidFill>
                <a:latin typeface="Calibri" pitchFamily="34" charset="0"/>
                <a:ea typeface="Calibri" pitchFamily="34" charset="-122"/>
                <a:cs typeface="Calibri" pitchFamily="34" charset="-120"/>
              </a:rPr>
              <a:t>PC1 often captures “scale/size” effects (tonnage, container capacity).</a:t>
            </a:r>
            <a:endParaRPr lang="en-US" sz="1200" dirty="0"/>
          </a:p>
          <a:p>
            <a:pPr marL="0" indent="0">
              <a:buNone/>
            </a:pPr>
            <a:r>
              <a:rPr lang="en-US" sz="1200" dirty="0">
                <a:solidFill>
                  <a:srgbClr val="0F172A"/>
                </a:solidFill>
                <a:latin typeface="Calibri" pitchFamily="34" charset="0"/>
                <a:ea typeface="Calibri" pitchFamily="34" charset="-122"/>
                <a:cs typeface="Calibri" pitchFamily="34" charset="-120"/>
              </a:rPr>
              <a:t>PC2 often captures “tempo/efficiency” (approach speed vs. time at port).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AI — KMeans Clustering (k = 4, with hulls)</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6812280"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user-ebV74P7ykEVcKEcjJKsUQJBO__d4a5b541-8085-4e1d-87c0-3d349e02ca70/d0ba46ef126f475fb4dc1a101463b375/mnt/data/ppt_images/img_921b92b871.png"/>
          <p:cNvPicPr>
            <a:picLocks noChangeAspect="1"/>
          </p:cNvPicPr>
          <p:nvPr/>
        </p:nvPicPr>
        <p:blipFill>
          <a:blip r:embed="rId4"/>
          <a:stretch>
            <a:fillRect/>
          </a:stretch>
        </p:blipFill>
        <p:spPr>
          <a:xfrm>
            <a:off x="640080" y="2666619"/>
            <a:ext cx="6537960" cy="2942082"/>
          </a:xfrm>
          <a:prstGeom prst="rect">
            <a:avLst/>
          </a:prstGeom>
        </p:spPr>
      </p:pic>
      <p:sp>
        <p:nvSpPr>
          <p:cNvPr id="10" name="Shape 6"/>
          <p:cNvSpPr/>
          <p:nvPr/>
        </p:nvSpPr>
        <p:spPr>
          <a:xfrm>
            <a:off x="7360920" y="1737360"/>
            <a:ext cx="432785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1" name="Text 7"/>
          <p:cNvSpPr/>
          <p:nvPr/>
        </p:nvSpPr>
        <p:spPr>
          <a:xfrm>
            <a:off x="7543800" y="1965960"/>
            <a:ext cx="3962095" cy="36576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Interpretation (high-level)</a:t>
            </a:r>
            <a:endParaRPr lang="en-US" sz="1600" dirty="0"/>
          </a:p>
        </p:txBody>
      </p:sp>
      <p:sp>
        <p:nvSpPr>
          <p:cNvPr id="12" name="Text 8"/>
          <p:cNvSpPr/>
          <p:nvPr/>
        </p:nvSpPr>
        <p:spPr>
          <a:xfrm>
            <a:off x="7543800" y="2377440"/>
            <a:ext cx="3962095" cy="1828800"/>
          </a:xfrm>
          <a:prstGeom prst="rect">
            <a:avLst/>
          </a:prstGeom>
          <a:noFill/>
          <a:ln/>
        </p:spPr>
        <p:txBody>
          <a:bodyPr wrap="square" rtlCol="0" anchor="t"/>
          <a:lstStyle/>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Clusters group ships with similar PCA profiles.</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Convex hulls highlight separation and overlap.</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k = 4 chosen for a clear, interpretable segmentation.</a:t>
            </a:r>
            <a:endParaRPr lang="en-US" sz="1400" dirty="0"/>
          </a:p>
        </p:txBody>
      </p:sp>
      <p:sp>
        <p:nvSpPr>
          <p:cNvPr id="13" name="Shape 9"/>
          <p:cNvSpPr/>
          <p:nvPr/>
        </p:nvSpPr>
        <p:spPr>
          <a:xfrm>
            <a:off x="7543800" y="4297680"/>
            <a:ext cx="3962095" cy="2194560"/>
          </a:xfrm>
          <a:prstGeom prst="roundRect">
            <a:avLst/>
          </a:prstGeom>
          <a:solidFill>
            <a:srgbClr val="FFF7ED"/>
          </a:solidFill>
          <a:ln w="12700">
            <a:solidFill>
              <a:srgbClr val="FED7AA"/>
            </a:solidFill>
            <a:prstDash val="solid"/>
          </a:ln>
        </p:spPr>
      </p:sp>
      <p:sp>
        <p:nvSpPr>
          <p:cNvPr id="14" name="Text 10"/>
          <p:cNvSpPr/>
          <p:nvPr/>
        </p:nvSpPr>
        <p:spPr>
          <a:xfrm>
            <a:off x="7726680" y="4425696"/>
            <a:ext cx="3596335" cy="32004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Operational use</a:t>
            </a:r>
            <a:endParaRPr lang="en-US" sz="1300" dirty="0"/>
          </a:p>
        </p:txBody>
      </p:sp>
      <p:sp>
        <p:nvSpPr>
          <p:cNvPr id="15" name="Text 11"/>
          <p:cNvSpPr/>
          <p:nvPr/>
        </p:nvSpPr>
        <p:spPr>
          <a:xfrm>
            <a:off x="7726680" y="4736592"/>
            <a:ext cx="3596335" cy="155448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This segmentation can support scheduling and resource allocation</a:t>
            </a:r>
            <a:endParaRPr lang="en-US" sz="1200" dirty="0"/>
          </a:p>
          <a:p>
            <a:pPr marL="0" indent="0">
              <a:buNone/>
            </a:pPr>
            <a:r>
              <a:rPr lang="en-US" sz="1200" dirty="0">
                <a:solidFill>
                  <a:srgbClr val="64748B"/>
                </a:solidFill>
                <a:latin typeface="Calibri" pitchFamily="34" charset="0"/>
                <a:ea typeface="Calibri" pitchFamily="34" charset="-122"/>
                <a:cs typeface="Calibri" pitchFamily="34" charset="-120"/>
              </a:rPr>
              <a:t>(e.g., similar ships → similar docking time patterns).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AFC — Correspondence Analysis (Factor Map)</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11185855" cy="416052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1e032d4b-6b4f-413f-8957-b2014ba46ad1.png"/>
          <p:cNvPicPr>
            <a:picLocks noChangeAspect="1"/>
          </p:cNvPicPr>
          <p:nvPr/>
        </p:nvPicPr>
        <p:blipFill>
          <a:blip r:embed="rId4"/>
          <a:stretch>
            <a:fillRect/>
          </a:stretch>
        </p:blipFill>
        <p:spPr>
          <a:xfrm>
            <a:off x="640080" y="2242428"/>
            <a:ext cx="10911535" cy="3150384"/>
          </a:xfrm>
          <a:prstGeom prst="rect">
            <a:avLst/>
          </a:prstGeom>
        </p:spPr>
      </p:pic>
      <p:sp>
        <p:nvSpPr>
          <p:cNvPr id="10" name="Shape 6"/>
          <p:cNvSpPr/>
          <p:nvPr/>
        </p:nvSpPr>
        <p:spPr>
          <a:xfrm>
            <a:off x="502920" y="5989320"/>
            <a:ext cx="11185855" cy="6858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txBody>
          <a:bodyPr/>
          <a:lstStyle/>
          <a:p>
            <a:endParaRPr lang="fr-FR" dirty="0"/>
          </a:p>
        </p:txBody>
      </p:sp>
      <p:sp>
        <p:nvSpPr>
          <p:cNvPr id="11" name="Text 7"/>
          <p:cNvSpPr/>
          <p:nvPr/>
        </p:nvSpPr>
        <p:spPr>
          <a:xfrm>
            <a:off x="731520" y="6108192"/>
            <a:ext cx="10728655" cy="365760"/>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AFC visualizes associations between individuals and variables in a joint map.</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CYBER — Isolation Forest (Anomaly Detection)</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7315200"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cyber_isolation_forest.png"/>
          <p:cNvPicPr>
            <a:picLocks noChangeAspect="1"/>
          </p:cNvPicPr>
          <p:nvPr/>
        </p:nvPicPr>
        <p:blipFill>
          <a:blip r:embed="rId4"/>
          <a:stretch>
            <a:fillRect/>
          </a:stretch>
        </p:blipFill>
        <p:spPr>
          <a:xfrm>
            <a:off x="1009874" y="1874520"/>
            <a:ext cx="6301292" cy="4526280"/>
          </a:xfrm>
          <a:prstGeom prst="rect">
            <a:avLst/>
          </a:prstGeom>
        </p:spPr>
      </p:pic>
      <p:sp>
        <p:nvSpPr>
          <p:cNvPr id="10" name="Shape 6"/>
          <p:cNvSpPr/>
          <p:nvPr/>
        </p:nvSpPr>
        <p:spPr>
          <a:xfrm>
            <a:off x="7635240" y="1737360"/>
            <a:ext cx="405353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1" name="Text 7"/>
          <p:cNvSpPr/>
          <p:nvPr/>
        </p:nvSpPr>
        <p:spPr>
          <a:xfrm>
            <a:off x="7818120" y="1965960"/>
            <a:ext cx="3687775" cy="36576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What it detects</a:t>
            </a:r>
            <a:endParaRPr lang="en-US" sz="1600" dirty="0"/>
          </a:p>
        </p:txBody>
      </p:sp>
      <p:sp>
        <p:nvSpPr>
          <p:cNvPr id="12" name="Text 8"/>
          <p:cNvSpPr/>
          <p:nvPr/>
        </p:nvSpPr>
        <p:spPr>
          <a:xfrm>
            <a:off x="7818120" y="2377440"/>
            <a:ext cx="3687775" cy="2743200"/>
          </a:xfrm>
          <a:prstGeom prst="rect">
            <a:avLst/>
          </a:prstGeom>
          <a:noFill/>
          <a:ln/>
        </p:spPr>
        <p:txBody>
          <a:bodyPr wrap="square" rtlCol="0" anchor="t"/>
          <a:lstStyle/>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Unusual multivariate patterns (rare combinations).</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Outliers flagged in red (here: 10% contamination setting).</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Useful for monitoring and early warning.</a:t>
            </a:r>
            <a:endParaRPr lang="en-US" sz="1300" dirty="0"/>
          </a:p>
        </p:txBody>
      </p:sp>
      <p:sp>
        <p:nvSpPr>
          <p:cNvPr id="13" name="Shape 9"/>
          <p:cNvSpPr/>
          <p:nvPr/>
        </p:nvSpPr>
        <p:spPr>
          <a:xfrm>
            <a:off x="7818120" y="5394960"/>
            <a:ext cx="3687775" cy="1143000"/>
          </a:xfrm>
          <a:prstGeom prst="roundRect">
            <a:avLst/>
          </a:prstGeom>
          <a:solidFill>
            <a:srgbClr val="FEE2E2"/>
          </a:solidFill>
          <a:ln w="12700">
            <a:solidFill>
              <a:srgbClr val="FECACA"/>
            </a:solidFill>
            <a:prstDash val="solid"/>
          </a:ln>
        </p:spPr>
      </p:sp>
      <p:sp>
        <p:nvSpPr>
          <p:cNvPr id="14" name="Text 10"/>
          <p:cNvSpPr/>
          <p:nvPr/>
        </p:nvSpPr>
        <p:spPr>
          <a:xfrm>
            <a:off x="8001000" y="5513832"/>
            <a:ext cx="3322015"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Cyber analogy</a:t>
            </a:r>
            <a:endParaRPr lang="en-US" sz="1300" dirty="0"/>
          </a:p>
        </p:txBody>
      </p:sp>
      <p:sp>
        <p:nvSpPr>
          <p:cNvPr id="15" name="Text 11"/>
          <p:cNvSpPr/>
          <p:nvPr/>
        </p:nvSpPr>
        <p:spPr>
          <a:xfrm>
            <a:off x="8001000" y="5779008"/>
            <a:ext cx="3322015" cy="54864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Think “suspicious behavior” → investigate logs / causes.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CYBER — Local Outlier Factor (LOF)</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7315200"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pic>
        <p:nvPicPr>
          <p:cNvPr id="9" name="Image 1" descr="/mnt/data/cyber_lof.png"/>
          <p:cNvPicPr>
            <a:picLocks noChangeAspect="1"/>
          </p:cNvPicPr>
          <p:nvPr/>
        </p:nvPicPr>
        <p:blipFill>
          <a:blip r:embed="rId4"/>
          <a:stretch>
            <a:fillRect/>
          </a:stretch>
        </p:blipFill>
        <p:spPr>
          <a:xfrm>
            <a:off x="1009874" y="1874520"/>
            <a:ext cx="6301292" cy="4526280"/>
          </a:xfrm>
          <a:prstGeom prst="rect">
            <a:avLst/>
          </a:prstGeom>
        </p:spPr>
      </p:pic>
      <p:sp>
        <p:nvSpPr>
          <p:cNvPr id="10" name="Shape 6"/>
          <p:cNvSpPr/>
          <p:nvPr/>
        </p:nvSpPr>
        <p:spPr>
          <a:xfrm>
            <a:off x="7635240" y="1737360"/>
            <a:ext cx="405353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11" name="Text 7"/>
          <p:cNvSpPr/>
          <p:nvPr/>
        </p:nvSpPr>
        <p:spPr>
          <a:xfrm>
            <a:off x="7818120" y="1965960"/>
            <a:ext cx="3687775" cy="36576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Difference vs IF</a:t>
            </a:r>
            <a:endParaRPr lang="en-US" sz="1600" dirty="0"/>
          </a:p>
        </p:txBody>
      </p:sp>
      <p:sp>
        <p:nvSpPr>
          <p:cNvPr id="12" name="Text 8"/>
          <p:cNvSpPr/>
          <p:nvPr/>
        </p:nvSpPr>
        <p:spPr>
          <a:xfrm>
            <a:off x="7818120" y="2377440"/>
            <a:ext cx="3687775" cy="2926080"/>
          </a:xfrm>
          <a:prstGeom prst="rect">
            <a:avLst/>
          </a:prstGeom>
          <a:noFill/>
          <a:ln/>
        </p:spPr>
        <p:txBody>
          <a:bodyPr wrap="square" rtlCol="0" anchor="t"/>
          <a:lstStyle/>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LOF compares local density to neighbors.</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Good at detecting “local” anomalies (sparse areas).</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Cross-checking IF &amp; LOF increases confidence.</a:t>
            </a:r>
            <a:endParaRPr lang="en-US" sz="1300" dirty="0"/>
          </a:p>
        </p:txBody>
      </p:sp>
      <p:sp>
        <p:nvSpPr>
          <p:cNvPr id="13" name="Shape 9"/>
          <p:cNvSpPr/>
          <p:nvPr/>
        </p:nvSpPr>
        <p:spPr>
          <a:xfrm>
            <a:off x="7818120" y="5532120"/>
            <a:ext cx="3687775" cy="1005840"/>
          </a:xfrm>
          <a:prstGeom prst="roundRect">
            <a:avLst/>
          </a:prstGeom>
          <a:solidFill>
            <a:srgbClr val="EEF2FF"/>
          </a:solidFill>
          <a:ln w="12700">
            <a:solidFill>
              <a:srgbClr val="CBD5E1"/>
            </a:solidFill>
            <a:prstDash val="solid"/>
          </a:ln>
        </p:spPr>
      </p:sp>
      <p:sp>
        <p:nvSpPr>
          <p:cNvPr id="14" name="Text 10"/>
          <p:cNvSpPr/>
          <p:nvPr/>
        </p:nvSpPr>
        <p:spPr>
          <a:xfrm>
            <a:off x="8001000" y="5650992"/>
            <a:ext cx="3322015"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Action</a:t>
            </a:r>
            <a:endParaRPr lang="en-US" sz="1300" dirty="0"/>
          </a:p>
        </p:txBody>
      </p:sp>
      <p:sp>
        <p:nvSpPr>
          <p:cNvPr id="15" name="Text 11"/>
          <p:cNvSpPr/>
          <p:nvPr/>
        </p:nvSpPr>
        <p:spPr>
          <a:xfrm>
            <a:off x="8001000" y="5916168"/>
            <a:ext cx="3322015" cy="502920"/>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Investigate anomalies: data quality, extreme operations, or suspicious events.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Conclusion &amp; Recommendations</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Shape 5"/>
          <p:cNvSpPr/>
          <p:nvPr/>
        </p:nvSpPr>
        <p:spPr>
          <a:xfrm>
            <a:off x="502920" y="1737360"/>
            <a:ext cx="11185855" cy="4800600"/>
          </a:xfrm>
          <a:prstGeom prst="roundRect">
            <a:avLst/>
          </a:prstGeom>
          <a:solidFill>
            <a:srgbClr val="FFFFFF"/>
          </a:solidFill>
          <a:ln w="12700">
            <a:solidFill>
              <a:srgbClr val="D7DFEE"/>
            </a:solidFill>
            <a:prstDash val="solid"/>
          </a:ln>
          <a:effectLst>
            <a:outerShdw blurRad="38100" dist="15240" dir="2700000" algn="bl" rotWithShape="0">
              <a:srgbClr val="000000">
                <a:alpha val="14000"/>
              </a:srgbClr>
            </a:outerShdw>
          </a:effectLst>
        </p:spPr>
      </p:sp>
      <p:sp>
        <p:nvSpPr>
          <p:cNvPr id="9" name="Text 6"/>
          <p:cNvSpPr/>
          <p:nvPr/>
        </p:nvSpPr>
        <p:spPr>
          <a:xfrm>
            <a:off x="822960" y="1965960"/>
            <a:ext cx="10545775" cy="320040"/>
          </a:xfrm>
          <a:prstGeom prst="rect">
            <a:avLst/>
          </a:prstGeom>
          <a:noFill/>
          <a:ln/>
        </p:spPr>
        <p:txBody>
          <a:bodyPr wrap="square"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Summary of findings</a:t>
            </a:r>
            <a:endParaRPr lang="en-US" sz="1800" dirty="0"/>
          </a:p>
        </p:txBody>
      </p:sp>
      <p:sp>
        <p:nvSpPr>
          <p:cNvPr id="10" name="Text 7"/>
          <p:cNvSpPr/>
          <p:nvPr/>
        </p:nvSpPr>
        <p:spPr>
          <a:xfrm>
            <a:off x="822960" y="2331720"/>
            <a:ext cx="5090008" cy="2011680"/>
          </a:xfrm>
          <a:prstGeom prst="rect">
            <a:avLst/>
          </a:prstGeom>
          <a:noFill/>
          <a:ln/>
        </p:spPr>
        <p:txBody>
          <a:bodyPr wrap="square" rtlCol="0" anchor="t"/>
          <a:lstStyle/>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PCA provides an interpretable 2D map (PC1/PC2).</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KMeans (k=4) segments ship profiles.</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AFC gives additional association insights.</a:t>
            </a:r>
            <a:endParaRPr lang="en-US" sz="1400" dirty="0"/>
          </a:p>
        </p:txBody>
      </p:sp>
      <p:sp>
        <p:nvSpPr>
          <p:cNvPr id="11" name="Text 8"/>
          <p:cNvSpPr/>
          <p:nvPr/>
        </p:nvSpPr>
        <p:spPr>
          <a:xfrm>
            <a:off x="6095848" y="2331720"/>
            <a:ext cx="5090008" cy="2011680"/>
          </a:xfrm>
          <a:prstGeom prst="rect">
            <a:avLst/>
          </a:prstGeom>
          <a:noFill/>
          <a:ln/>
        </p:spPr>
        <p:txBody>
          <a:bodyPr wrap="square" rtlCol="0" anchor="t"/>
          <a:lstStyle/>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Isolation Forest &amp; LOF highlight unusual patterns.</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Anomalies are starting points for investigation.</a:t>
            </a:r>
            <a:endParaRPr lang="en-US" sz="1400" dirty="0"/>
          </a:p>
          <a:p>
            <a:pPr marL="177800" indent="-177800">
              <a:spcAft>
                <a:spcPts val="600"/>
              </a:spcAft>
              <a:buSzPct val="100000"/>
              <a:buChar char="•"/>
            </a:pPr>
            <a:r>
              <a:rPr lang="en-US" sz="1400" dirty="0">
                <a:solidFill>
                  <a:srgbClr val="0F172A"/>
                </a:solidFill>
                <a:latin typeface="Calibri" pitchFamily="34" charset="0"/>
                <a:ea typeface="Calibri" pitchFamily="34" charset="-122"/>
                <a:cs typeface="Calibri" pitchFamily="34" charset="-120"/>
              </a:rPr>
              <a:t>Interactive app improves reproducibility &amp; communication.</a:t>
            </a:r>
            <a:endParaRPr lang="en-US" sz="1400" dirty="0"/>
          </a:p>
        </p:txBody>
      </p:sp>
      <p:sp>
        <p:nvSpPr>
          <p:cNvPr id="12" name="Shape 9"/>
          <p:cNvSpPr/>
          <p:nvPr/>
        </p:nvSpPr>
        <p:spPr>
          <a:xfrm>
            <a:off x="822960" y="4526280"/>
            <a:ext cx="10545775" cy="1874520"/>
          </a:xfrm>
          <a:prstGeom prst="roundRect">
            <a:avLst/>
          </a:prstGeom>
          <a:solidFill>
            <a:srgbClr val="F8FAFC"/>
          </a:solidFill>
          <a:ln w="12700">
            <a:solidFill>
              <a:srgbClr val="D7DFEE"/>
            </a:solidFill>
            <a:prstDash val="solid"/>
          </a:ln>
        </p:spPr>
      </p:sp>
      <p:sp>
        <p:nvSpPr>
          <p:cNvPr id="13" name="Text 10"/>
          <p:cNvSpPr/>
          <p:nvPr/>
        </p:nvSpPr>
        <p:spPr>
          <a:xfrm>
            <a:off x="1005840" y="4663440"/>
            <a:ext cx="10180015" cy="320040"/>
          </a:xfrm>
          <a:prstGeom prst="rect">
            <a:avLst/>
          </a:prstGeom>
          <a:noFill/>
          <a:ln/>
        </p:spPr>
        <p:txBody>
          <a:bodyPr wrap="square" rtlCol="0" anchor="ctr"/>
          <a:lstStyle/>
          <a:p>
            <a:pPr marL="0" indent="0">
              <a:buNone/>
            </a:pPr>
            <a:r>
              <a:rPr lang="en-US" sz="1600" b="1" dirty="0">
                <a:solidFill>
                  <a:srgbClr val="0F172A"/>
                </a:solidFill>
                <a:latin typeface="Calibri" pitchFamily="34" charset="0"/>
                <a:ea typeface="Calibri" pitchFamily="34" charset="-122"/>
                <a:cs typeface="Calibri" pitchFamily="34" charset="-120"/>
              </a:rPr>
              <a:t>Recommendations (practical)</a:t>
            </a:r>
            <a:endParaRPr lang="en-US" sz="1600" dirty="0"/>
          </a:p>
        </p:txBody>
      </p:sp>
      <p:sp>
        <p:nvSpPr>
          <p:cNvPr id="14" name="Text 11"/>
          <p:cNvSpPr/>
          <p:nvPr/>
        </p:nvSpPr>
        <p:spPr>
          <a:xfrm>
            <a:off x="1005840" y="4983480"/>
            <a:ext cx="10180015" cy="1325880"/>
          </a:xfrm>
          <a:prstGeom prst="rect">
            <a:avLst/>
          </a:prstGeom>
          <a:noFill/>
          <a:ln/>
        </p:spPr>
        <p:txBody>
          <a:bodyPr wrap="square" rtlCol="0" anchor="t"/>
          <a:lstStyle/>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Use clusters to tailor berth allocation and anticipate service needs.</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Track CO₂ and fuel indicators by cluster to target efficiency actions.</a:t>
            </a:r>
            <a:endParaRPr lang="en-US" sz="1300" dirty="0"/>
          </a:p>
          <a:p>
            <a:pPr marL="165100" indent="-165100">
              <a:spcAft>
                <a:spcPts val="600"/>
              </a:spcAft>
              <a:buSzPct val="100000"/>
              <a:buChar char="•"/>
            </a:pPr>
            <a:r>
              <a:rPr lang="en-US" sz="1300" dirty="0">
                <a:solidFill>
                  <a:srgbClr val="0F172A"/>
                </a:solidFill>
                <a:latin typeface="Calibri" pitchFamily="34" charset="0"/>
                <a:ea typeface="Calibri" pitchFamily="34" charset="-122"/>
                <a:cs typeface="Calibri" pitchFamily="34" charset="-120"/>
              </a:rPr>
              <a:t>Monitor anomalies regularly; validate whether they are data errors or real events.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
          </a:xfrm>
          <a:prstGeom prst="rect">
            <a:avLst/>
          </a:prstGeom>
          <a:solidFill>
            <a:srgbClr val="0B1220"/>
          </a:solidFill>
          <a:ln w="12700">
            <a:solidFill>
              <a:srgbClr val="0B1220"/>
            </a:solidFill>
            <a:prstDash val="solid"/>
          </a:ln>
        </p:spPr>
      </p:sp>
      <p:pic>
        <p:nvPicPr>
          <p:cNvPr id="3" name="Image 0" descr="/mnt/data/5c5b3ddd-8f83-4f6d-aff5-62677c965cde.png"/>
          <p:cNvPicPr>
            <a:picLocks noChangeAspect="1"/>
          </p:cNvPicPr>
          <p:nvPr/>
        </p:nvPicPr>
        <p:blipFill>
          <a:blip r:embed="rId3"/>
          <a:stretch>
            <a:fillRect/>
          </a:stretch>
        </p:blipFill>
        <p:spPr>
          <a:xfrm>
            <a:off x="256032" y="109728"/>
            <a:ext cx="822960" cy="457200"/>
          </a:xfrm>
          <a:prstGeom prst="rect">
            <a:avLst/>
          </a:prstGeom>
        </p:spPr>
      </p:pic>
      <p:sp>
        <p:nvSpPr>
          <p:cNvPr id="4" name="Text 1"/>
          <p:cNvSpPr/>
          <p:nvPr/>
        </p:nvSpPr>
        <p:spPr>
          <a:xfrm>
            <a:off x="7802575" y="109728"/>
            <a:ext cx="4206240" cy="219456"/>
          </a:xfrm>
          <a:prstGeom prst="rect">
            <a:avLst/>
          </a:prstGeom>
          <a:noFill/>
          <a:ln/>
        </p:spPr>
        <p:txBody>
          <a:bodyPr wrap="square" rtlCol="0" anchor="ctr"/>
          <a:lstStyle/>
          <a:p>
            <a:pPr marL="0" indent="0" algn="r">
              <a:buNone/>
            </a:pPr>
            <a:r>
              <a:rPr lang="en-US" sz="1400" b="1" dirty="0">
                <a:solidFill>
                  <a:srgbClr val="FFFFFF"/>
                </a:solidFill>
                <a:latin typeface="Calibri" pitchFamily="34" charset="0"/>
                <a:ea typeface="Calibri" pitchFamily="34" charset="-122"/>
                <a:cs typeface="Calibri" pitchFamily="34" charset="-120"/>
              </a:rPr>
              <a:t>DATA ANALYST SUITE</a:t>
            </a:r>
            <a:endParaRPr lang="en-US" sz="1400" dirty="0"/>
          </a:p>
        </p:txBody>
      </p:sp>
      <p:sp>
        <p:nvSpPr>
          <p:cNvPr id="5" name="Text 2"/>
          <p:cNvSpPr/>
          <p:nvPr/>
        </p:nvSpPr>
        <p:spPr>
          <a:xfrm>
            <a:off x="7802575" y="365760"/>
            <a:ext cx="4206240" cy="164592"/>
          </a:xfrm>
          <a:prstGeom prst="rect">
            <a:avLst/>
          </a:prstGeom>
          <a:noFill/>
          <a:ln/>
        </p:spPr>
        <p:txBody>
          <a:bodyPr wrap="square" rtlCol="0" anchor="ctr"/>
          <a:lstStyle/>
          <a:p>
            <a:pPr marL="0" indent="0" algn="r">
              <a:buNone/>
            </a:pPr>
            <a:r>
              <a:rPr lang="en-US" sz="1000" dirty="0">
                <a:solidFill>
                  <a:srgbClr val="C7D2FE"/>
                </a:solidFill>
                <a:latin typeface="Calibri" pitchFamily="34" charset="0"/>
                <a:ea typeface="Calibri" pitchFamily="34" charset="-122"/>
                <a:cs typeface="Calibri" pitchFamily="34" charset="-120"/>
              </a:rPr>
              <a:t>ACP • AI • AFC • CYBER</a:t>
            </a:r>
            <a:endParaRPr lang="en-US" sz="1000" dirty="0"/>
          </a:p>
        </p:txBody>
      </p:sp>
      <p:sp>
        <p:nvSpPr>
          <p:cNvPr id="6" name="Text 3"/>
          <p:cNvSpPr/>
          <p:nvPr/>
        </p:nvSpPr>
        <p:spPr>
          <a:xfrm>
            <a:off x="502920" y="868680"/>
            <a:ext cx="11185855" cy="548640"/>
          </a:xfrm>
          <a:prstGeom prst="rect">
            <a:avLst/>
          </a:prstGeom>
          <a:noFill/>
          <a:ln/>
        </p:spPr>
        <p:txBody>
          <a:bodyPr wrap="square" rtlCol="0" anchor="ctr"/>
          <a:lstStyle/>
          <a:p>
            <a:pPr marL="0" indent="0">
              <a:buNone/>
            </a:pPr>
            <a:r>
              <a:rPr lang="en-US" sz="2600" b="1" dirty="0">
                <a:solidFill>
                  <a:srgbClr val="0F172A"/>
                </a:solidFill>
                <a:latin typeface="Calibri" pitchFamily="34" charset="0"/>
                <a:ea typeface="Calibri" pitchFamily="34" charset="-122"/>
                <a:cs typeface="Calibri" pitchFamily="34" charset="-120"/>
              </a:rPr>
              <a:t>How the Data Analyst Program Helped Me</a:t>
            </a:r>
            <a:endParaRPr lang="en-US" sz="2600" dirty="0"/>
          </a:p>
        </p:txBody>
      </p:sp>
      <p:sp>
        <p:nvSpPr>
          <p:cNvPr id="7" name="Shape 4"/>
          <p:cNvSpPr/>
          <p:nvPr/>
        </p:nvSpPr>
        <p:spPr>
          <a:xfrm>
            <a:off x="502920" y="1481328"/>
            <a:ext cx="11185855" cy="0"/>
          </a:xfrm>
          <a:prstGeom prst="line">
            <a:avLst/>
          </a:prstGeom>
          <a:noFill/>
          <a:ln w="12700">
            <a:solidFill>
              <a:srgbClr val="D7DFEE"/>
            </a:solidFill>
            <a:prstDash val="solid"/>
          </a:ln>
        </p:spPr>
      </p:sp>
      <p:sp>
        <p:nvSpPr>
          <p:cNvPr id="8" name="Text 5"/>
          <p:cNvSpPr/>
          <p:nvPr/>
        </p:nvSpPr>
        <p:spPr>
          <a:xfrm>
            <a:off x="822960" y="1874520"/>
            <a:ext cx="10545775" cy="502920"/>
          </a:xfrm>
          <a:prstGeom prst="rect">
            <a:avLst/>
          </a:prstGeom>
          <a:noFill/>
          <a:ln/>
        </p:spPr>
        <p:txBody>
          <a:bodyPr wrap="square" rtlCol="0" anchor="ctr"/>
          <a:lstStyle/>
          <a:p>
            <a:pPr marL="0" indent="0">
              <a:buNone/>
            </a:pPr>
            <a:r>
              <a:rPr lang="en-US" sz="1800" b="1" dirty="0">
                <a:solidFill>
                  <a:srgbClr val="0F172A"/>
                </a:solidFill>
                <a:latin typeface="Calibri" pitchFamily="34" charset="0"/>
                <a:ea typeface="Calibri" pitchFamily="34" charset="-122"/>
                <a:cs typeface="Calibri" pitchFamily="34" charset="-120"/>
              </a:rPr>
              <a:t>In what way was the program/project beneficial, and how did it help afterwards?</a:t>
            </a:r>
            <a:endParaRPr lang="en-US" sz="1800" dirty="0"/>
          </a:p>
        </p:txBody>
      </p:sp>
      <p:sp>
        <p:nvSpPr>
          <p:cNvPr id="9" name="Text 6"/>
          <p:cNvSpPr/>
          <p:nvPr/>
        </p:nvSpPr>
        <p:spPr>
          <a:xfrm>
            <a:off x="1005840" y="2606040"/>
            <a:ext cx="10180015" cy="3063240"/>
          </a:xfrm>
          <a:prstGeom prst="rect">
            <a:avLst/>
          </a:prstGeom>
          <a:noFill/>
          <a:ln/>
        </p:spPr>
        <p:txBody>
          <a:bodyPr wrap="square" rtlCol="0" anchor="t"/>
          <a:lstStyle/>
          <a:p>
            <a:pPr marL="203200" indent="-203200">
              <a:spcAft>
                <a:spcPts val="600"/>
              </a:spcAft>
              <a:buSzPct val="100000"/>
              <a:buChar char="•"/>
            </a:pPr>
            <a:r>
              <a:rPr lang="en-US" sz="1600" dirty="0">
                <a:solidFill>
                  <a:srgbClr val="0F172A"/>
                </a:solidFill>
                <a:latin typeface="Calibri" pitchFamily="34" charset="0"/>
                <a:ea typeface="Calibri" pitchFamily="34" charset="-122"/>
                <a:cs typeface="Calibri" pitchFamily="34" charset="-120"/>
              </a:rPr>
              <a:t>Methodology: framing a question → cleaning data → choosing models → validating results.</a:t>
            </a:r>
            <a:endParaRPr lang="en-US" sz="1600" dirty="0"/>
          </a:p>
          <a:p>
            <a:pPr marL="203200" indent="-203200">
              <a:spcAft>
                <a:spcPts val="600"/>
              </a:spcAft>
              <a:buSzPct val="100000"/>
              <a:buChar char="•"/>
            </a:pPr>
            <a:r>
              <a:rPr lang="en-US" sz="1600" dirty="0">
                <a:solidFill>
                  <a:srgbClr val="0F172A"/>
                </a:solidFill>
                <a:latin typeface="Calibri" pitchFamily="34" charset="0"/>
                <a:ea typeface="Calibri" pitchFamily="34" charset="-122"/>
                <a:cs typeface="Calibri" pitchFamily="34" charset="-120"/>
              </a:rPr>
              <a:t>Technical skills: PCA, clustering, classification, anomaly detection, visualization.</a:t>
            </a:r>
            <a:endParaRPr lang="en-US" sz="1600" dirty="0"/>
          </a:p>
          <a:p>
            <a:pPr marL="203200" indent="-203200">
              <a:spcAft>
                <a:spcPts val="600"/>
              </a:spcAft>
              <a:buSzPct val="100000"/>
              <a:buChar char="•"/>
            </a:pPr>
            <a:r>
              <a:rPr lang="en-US" sz="1600" dirty="0">
                <a:solidFill>
                  <a:srgbClr val="0F172A"/>
                </a:solidFill>
                <a:latin typeface="Calibri" pitchFamily="34" charset="0"/>
                <a:ea typeface="Calibri" pitchFamily="34" charset="-122"/>
                <a:cs typeface="Calibri" pitchFamily="34" charset="-120"/>
              </a:rPr>
              <a:t>Tooling: building a reusable app improved speed, repeatability and presentation quality.</a:t>
            </a:r>
            <a:endParaRPr lang="en-US" sz="1600" dirty="0"/>
          </a:p>
          <a:p>
            <a:pPr marL="203200" indent="-203200">
              <a:spcAft>
                <a:spcPts val="600"/>
              </a:spcAft>
              <a:buSzPct val="100000"/>
              <a:buChar char="•"/>
            </a:pPr>
            <a:r>
              <a:rPr lang="en-US" sz="1600" dirty="0">
                <a:solidFill>
                  <a:srgbClr val="0F172A"/>
                </a:solidFill>
                <a:latin typeface="Calibri" pitchFamily="34" charset="0"/>
                <a:ea typeface="Calibri" pitchFamily="34" charset="-122"/>
                <a:cs typeface="Calibri" pitchFamily="34" charset="-120"/>
              </a:rPr>
              <a:t>Communication: translating graphs into decisions (recommendations for operations &amp; risk).</a:t>
            </a:r>
            <a:endParaRPr lang="en-US" sz="1600" dirty="0"/>
          </a:p>
          <a:p>
            <a:pPr marL="203200" indent="-203200">
              <a:spcAft>
                <a:spcPts val="600"/>
              </a:spcAft>
              <a:buSzPct val="100000"/>
              <a:buChar char="•"/>
            </a:pPr>
            <a:r>
              <a:rPr lang="en-US" sz="1600" dirty="0">
                <a:solidFill>
                  <a:srgbClr val="0F172A"/>
                </a:solidFill>
                <a:latin typeface="Calibri" pitchFamily="34" charset="0"/>
                <a:ea typeface="Calibri" pitchFamily="34" charset="-122"/>
                <a:cs typeface="Calibri" pitchFamily="34" charset="-120"/>
              </a:rPr>
              <a:t>Afterwards: confidence to tackle new datasets quickly and build dashboards/workflows.</a:t>
            </a:r>
            <a:endParaRPr lang="en-US" sz="1600" dirty="0"/>
          </a:p>
        </p:txBody>
      </p:sp>
      <p:sp>
        <p:nvSpPr>
          <p:cNvPr id="10" name="Text 7"/>
          <p:cNvSpPr/>
          <p:nvPr/>
        </p:nvSpPr>
        <p:spPr>
          <a:xfrm>
            <a:off x="803910" y="5970270"/>
            <a:ext cx="10545775" cy="685800"/>
          </a:xfrm>
          <a:prstGeom prst="rect">
            <a:avLst/>
          </a:prstGeom>
          <a:solidFill>
            <a:srgbClr val="0F172A"/>
          </a:solidFill>
          <a:ln>
            <a:solidFill>
              <a:srgbClr val="0F172A"/>
            </a:solid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Thank you — Q&amp;A</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TotalTime>
  <Words>1654</Words>
  <Application>Microsoft Office PowerPoint</Application>
  <PresentationFormat>Grand écran</PresentationFormat>
  <Paragraphs>144</Paragraphs>
  <Slides>14</Slides>
  <Notes>14</Notes>
  <HiddenSlides>0</HiddenSlides>
  <MMClips>2</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14</vt:i4>
      </vt:variant>
    </vt:vector>
  </HeadingPairs>
  <TitlesOfParts>
    <vt:vector size="17"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Sara Naim</dc:creator>
  <cp:lastModifiedBy>sara naim</cp:lastModifiedBy>
  <cp:revision>6</cp:revision>
  <dcterms:created xsi:type="dcterms:W3CDTF">2026-01-06T09:42:43Z</dcterms:created>
  <dcterms:modified xsi:type="dcterms:W3CDTF">2026-01-06T10:42:59Z</dcterms:modified>
</cp:coreProperties>
</file>